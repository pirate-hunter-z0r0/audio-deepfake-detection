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9F19FD5F-F5A2-ADDA-C156-A5083059A8AE}"/>
              </a:ext>
            </a:extLst>
          </p:cNvPr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MINOR PROJECT REVIEW — 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03FEAB6-A2BD-5788-7DEA-5A806D97D789}"/>
              </a:ext>
            </a:extLst>
          </p:cNvPr>
          <p:cNvSpPr/>
          <p:nvPr/>
        </p:nvSpPr>
        <p:spPr>
          <a:xfrm>
            <a:off x="457200" y="777240"/>
            <a:ext cx="27432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AA2B92-B1E1-4758-F89C-30516F3CF2BD}"/>
              </a:ext>
            </a:extLst>
          </p:cNvPr>
          <p:cNvSpPr txBox="1"/>
          <p:nvPr/>
        </p:nvSpPr>
        <p:spPr>
          <a:xfrm>
            <a:off x="457199" y="1280160"/>
            <a:ext cx="106363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sz="4000" dirty="0"/>
              <a:t>AI-Based Audio Deepfake</a:t>
            </a:r>
            <a:br>
              <a:rPr sz="4000" dirty="0"/>
            </a:br>
            <a:r>
              <a:rPr sz="4000" dirty="0"/>
              <a:t>Detection System</a:t>
            </a:r>
            <a:r>
              <a:rPr lang="en-US" sz="4000" dirty="0"/>
              <a:t> Using </a:t>
            </a:r>
            <a:r>
              <a:rPr lang="en-US" sz="4000" dirty="0" err="1"/>
              <a:t>ResNeXt</a:t>
            </a:r>
            <a:endParaRPr sz="4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777061-6B36-2974-5772-9BD58141B589}"/>
              </a:ext>
            </a:extLst>
          </p:cNvPr>
          <p:cNvSpPr txBox="1"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Calibri"/>
              </a:defRPr>
            </a:pPr>
            <a:r>
              <a:t>Using Spectral Feature Analysis &amp; ResNeXt-Inspired Deep Learning Architecture</a:t>
            </a:r>
          </a:p>
        </p:txBody>
      </p:sp>
      <p:sp>
        <p:nvSpPr>
          <p:cNvPr id="67" name="Rounded Rectangle 5">
            <a:extLst>
              <a:ext uri="{FF2B5EF4-FFF2-40B4-BE49-F238E27FC236}">
                <a16:creationId xmlns:a16="http://schemas.microsoft.com/office/drawing/2014/main" id="{BD7CFB56-FA6E-0D22-C247-BC32C447528E}"/>
              </a:ext>
            </a:extLst>
          </p:cNvPr>
          <p:cNvSpPr/>
          <p:nvPr/>
        </p:nvSpPr>
        <p:spPr>
          <a:xfrm>
            <a:off x="457200" y="438912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202A3C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3CDC3BB-9E94-5EA7-F345-29184B6630E7}"/>
              </a:ext>
            </a:extLst>
          </p:cNvPr>
          <p:cNvSpPr txBox="1"/>
          <p:nvPr/>
        </p:nvSpPr>
        <p:spPr>
          <a:xfrm>
            <a:off x="640080" y="4434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EFF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482D87-962A-370B-33D3-66C14BABA333}"/>
              </a:ext>
            </a:extLst>
          </p:cNvPr>
          <p:cNvSpPr txBox="1"/>
          <p:nvPr/>
        </p:nvSpPr>
        <p:spPr>
          <a:xfrm>
            <a:off x="640080" y="475488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latin typeface="Aptos Display" panose="020B0004020202020204" pitchFamily="34" charset="0"/>
              </a:rPr>
              <a:t>Information Science &amp; Engineering</a:t>
            </a:r>
            <a:endParaRPr dirty="0">
              <a:latin typeface="Aptos Display" panose="020B0004020202020204" pitchFamily="34" charset="0"/>
            </a:endParaRPr>
          </a:p>
        </p:txBody>
      </p:sp>
      <p:sp>
        <p:nvSpPr>
          <p:cNvPr id="73" name="Rounded Rectangle 8">
            <a:extLst>
              <a:ext uri="{FF2B5EF4-FFF2-40B4-BE49-F238E27FC236}">
                <a16:creationId xmlns:a16="http://schemas.microsoft.com/office/drawing/2014/main" id="{91F71A33-AE74-B5DE-0CCD-34E4E6AC94D2}"/>
              </a:ext>
            </a:extLst>
          </p:cNvPr>
          <p:cNvSpPr/>
          <p:nvPr/>
        </p:nvSpPr>
        <p:spPr>
          <a:xfrm>
            <a:off x="4206240" y="438912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202A3C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969DB7B-33D0-964A-40A9-EEF40B50A306}"/>
              </a:ext>
            </a:extLst>
          </p:cNvPr>
          <p:cNvSpPr txBox="1"/>
          <p:nvPr/>
        </p:nvSpPr>
        <p:spPr>
          <a:xfrm>
            <a:off x="4389120" y="4434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EFF"/>
                </a:solidFill>
                <a:latin typeface="Calibri"/>
              </a:defRPr>
            </a:pPr>
            <a:r>
              <a:t>ACADEMIC YEAR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41B953D-4B26-7FA8-1F78-AE0DA4307D36}"/>
              </a:ext>
            </a:extLst>
          </p:cNvPr>
          <p:cNvSpPr txBox="1"/>
          <p:nvPr/>
        </p:nvSpPr>
        <p:spPr>
          <a:xfrm>
            <a:off x="4389120" y="475488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202</a:t>
            </a:r>
            <a:r>
              <a:rPr lang="en-US" dirty="0"/>
              <a:t>6</a:t>
            </a:r>
            <a:r>
              <a:rPr dirty="0"/>
              <a:t> – 202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79" name="Rounded Rectangle 11">
            <a:extLst>
              <a:ext uri="{FF2B5EF4-FFF2-40B4-BE49-F238E27FC236}">
                <a16:creationId xmlns:a16="http://schemas.microsoft.com/office/drawing/2014/main" id="{F4AFE7FE-9BE3-D250-4019-5ED15C66EA4A}"/>
              </a:ext>
            </a:extLst>
          </p:cNvPr>
          <p:cNvSpPr/>
          <p:nvPr/>
        </p:nvSpPr>
        <p:spPr>
          <a:xfrm>
            <a:off x="7955279" y="438912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202A3C"/>
          </a:solidFill>
          <a:ln w="1905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ED473CF-A742-2EAF-B50D-A5F5E3A5A84D}"/>
              </a:ext>
            </a:extLst>
          </p:cNvPr>
          <p:cNvSpPr txBox="1"/>
          <p:nvPr/>
        </p:nvSpPr>
        <p:spPr>
          <a:xfrm>
            <a:off x="8138159" y="4434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EFF"/>
                </a:solidFill>
                <a:latin typeface="Calibri"/>
              </a:defRPr>
            </a:pPr>
            <a:r>
              <a:t>GUIDE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D04A7A6-720A-3481-10BC-CE21DF2598A3}"/>
              </a:ext>
            </a:extLst>
          </p:cNvPr>
          <p:cNvSpPr txBox="1"/>
          <p:nvPr/>
        </p:nvSpPr>
        <p:spPr>
          <a:xfrm>
            <a:off x="8138159" y="475488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latin typeface="Aptos Display" panose="020B0004020202020204" pitchFamily="34" charset="0"/>
              </a:rPr>
              <a:t>Dr. S </a:t>
            </a:r>
            <a:r>
              <a:rPr lang="en-IN" sz="1600" dirty="0">
                <a:solidFill>
                  <a:srgbClr val="FFFFFF"/>
                </a:solidFill>
                <a:latin typeface="Aptos Display" panose="020B0004020202020204" pitchFamily="34" charset="0"/>
              </a:rPr>
              <a:t>Kuzhalvaimozhi</a:t>
            </a:r>
            <a:endParaRPr dirty="0">
              <a:latin typeface="Aptos Display" panose="020B00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91445EC-34EB-E3E2-5F28-8AF57C35B211}"/>
              </a:ext>
            </a:extLst>
          </p:cNvPr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EFF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22DEEBA-7A66-931F-1BC0-BA8FEF841680}"/>
              </a:ext>
            </a:extLst>
          </p:cNvPr>
          <p:cNvSpPr txBox="1"/>
          <p:nvPr/>
        </p:nvSpPr>
        <p:spPr>
          <a:xfrm>
            <a:off x="457200" y="5989320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lang="en-IN" dirty="0">
                <a:latin typeface="Aptos Display" panose="020B0004020202020204" pitchFamily="34" charset="0"/>
              </a:rPr>
              <a:t>Dhanush K P   </a:t>
            </a:r>
            <a:r>
              <a:rPr dirty="0">
                <a:latin typeface="Aptos Display" panose="020B0004020202020204" pitchFamily="34" charset="0"/>
              </a:rPr>
              <a:t>•   </a:t>
            </a:r>
            <a:r>
              <a:rPr lang="en-IN" dirty="0">
                <a:latin typeface="Aptos Display" panose="020B0004020202020204" pitchFamily="34" charset="0"/>
              </a:rPr>
              <a:t>Abhinand P </a:t>
            </a:r>
            <a:r>
              <a:rPr dirty="0">
                <a:latin typeface="Aptos Display" panose="020B0004020202020204" pitchFamily="34" charset="0"/>
              </a:rPr>
              <a:t>  •   </a:t>
            </a:r>
            <a:r>
              <a:rPr lang="en-US" dirty="0">
                <a:latin typeface="Aptos Display" panose="020B0004020202020204" pitchFamily="34" charset="0"/>
              </a:rPr>
              <a:t>Tharun T L   </a:t>
            </a:r>
            <a:r>
              <a:rPr lang="en-IN" dirty="0">
                <a:latin typeface="Aptos Display" panose="020B0004020202020204" pitchFamily="34" charset="0"/>
              </a:rPr>
              <a:t>•   Sameer Kumar</a:t>
            </a:r>
            <a:endParaRPr dirty="0">
              <a:latin typeface="Aptos Display" panose="020B0004020202020204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9600970-E552-C2AC-B7F0-1D360E943FDA}"/>
              </a:ext>
            </a:extLst>
          </p:cNvPr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94A3B8"/>
                </a:solidFill>
                <a:latin typeface="Aptos Display" panose="020B0004020202020204" pitchFamily="34" charset="0"/>
              </a:rPr>
              <a:t>The rapid advancement of generative AI has enabled the creation of highly realistic synthetic audio, including AI-generated speech and cloned voices. These audio deepfakes pose serious threats to voice authentication systems, digital forensics, media integrity, and cybersecurity. As text-to-speech (TTS) and voice conversion (VC) technologies continue to improve, distinguishing genuine human speech from AI-generated audio has become a critical and challenging research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0584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Growth of generative AI and realistic speech synthesis</a:t>
            </a:r>
          </a:p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Rise of audio deepfakes and voice cloning technologies</a:t>
            </a:r>
          </a:p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Security, privacy, and authenticity concerns</a:t>
            </a:r>
          </a:p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Need for automated, reliable AI-based detection systems</a:t>
            </a:r>
          </a:p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Proposed approach: Spectral feature analysis + </a:t>
            </a:r>
            <a:r>
              <a:rPr sz="1600" dirty="0" err="1">
                <a:solidFill>
                  <a:srgbClr val="F1F5F9"/>
                </a:solidFill>
                <a:latin typeface="Aptos Display" panose="020B0004020202020204" pitchFamily="34" charset="0"/>
              </a:rPr>
              <a:t>ResNeXt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 deep learning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dirty="0">
                <a:solidFill>
                  <a:srgbClr val="22D3EE"/>
                </a:solidFill>
                <a:latin typeface="Aptos Display" panose="020B0004020202020204" pitchFamily="34" charset="0"/>
              </a:rPr>
              <a:t>"The proposed system analyzes acoustic/spectral characteristics of an input audio</a:t>
            </a:r>
          </a:p>
          <a:p>
            <a:pPr algn="ctr"/>
            <a:r>
              <a:rPr sz="1500" b="0" dirty="0">
                <a:solidFill>
                  <a:srgbClr val="22D3EE"/>
                </a:solidFill>
                <a:latin typeface="Aptos Display" panose="020B0004020202020204" pitchFamily="34" charset="0"/>
              </a:rPr>
              <a:t>recording and classifies it as Genuine or Deepfake using a </a:t>
            </a:r>
            <a:r>
              <a:rPr sz="1500" b="0" dirty="0" err="1">
                <a:solidFill>
                  <a:srgbClr val="22D3EE"/>
                </a:solidFill>
                <a:latin typeface="Aptos Display" panose="020B0004020202020204" pitchFamily="34" charset="0"/>
              </a:rPr>
              <a:t>ResNeXt</a:t>
            </a:r>
            <a:r>
              <a:rPr sz="1500" b="0" dirty="0">
                <a:solidFill>
                  <a:srgbClr val="22D3EE"/>
                </a:solidFill>
                <a:latin typeface="Aptos Display" panose="020B0004020202020204" pitchFamily="34" charset="0"/>
              </a:rPr>
              <a:t>-based</a:t>
            </a:r>
          </a:p>
          <a:p>
            <a:pPr algn="ctr"/>
            <a:r>
              <a:rPr sz="1500" b="0" dirty="0">
                <a:solidFill>
                  <a:srgbClr val="22D3EE"/>
                </a:solidFill>
                <a:latin typeface="Aptos Display" panose="020B0004020202020204" pitchFamily="34" charset="0"/>
              </a:rPr>
              <a:t>deep-learning architecture."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1188720"/>
            <a:ext cx="7003499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Generative AI can now produce highly realistic human speech</a:t>
            </a:r>
          </a:p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Text-to-Speech (TTS) and Voice Conversion (VC) technologies can synthesize or manipulate voices</a:t>
            </a:r>
          </a:p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Modern synthetic audio is increasingly difficult to distinguish from genuine recordings</a:t>
            </a:r>
          </a:p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Audio deepfake detection is an important AI and cybersecurity problem</a:t>
            </a:r>
          </a:p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Deep-learning models can learn subtle discriminative patterns in audio representations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371600"/>
            <a:ext cx="2560320" cy="502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Calibri"/>
              </a:rPr>
              <a:t>Human Speech</a:t>
            </a:r>
          </a:p>
        </p:txBody>
      </p:sp>
      <p:sp>
        <p:nvSpPr>
          <p:cNvPr id="9" name="Down Arrow 8"/>
          <p:cNvSpPr/>
          <p:nvPr/>
        </p:nvSpPr>
        <p:spPr>
          <a:xfrm>
            <a:off x="9509760" y="1892808"/>
            <a:ext cx="182880" cy="201168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321040" y="2185416"/>
            <a:ext cx="2560320" cy="502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Calibri"/>
              </a:rPr>
              <a:t>AI Processing /</a:t>
            </a:r>
          </a:p>
          <a:p>
            <a:pPr algn="ctr"/>
            <a:r>
              <a:rPr sz="1100" b="1">
                <a:solidFill>
                  <a:srgbClr val="F1F5F9"/>
                </a:solidFill>
                <a:latin typeface="Calibri"/>
              </a:rPr>
              <a:t>Generation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509760" y="2706624"/>
            <a:ext cx="182880" cy="201168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21040" y="2999232"/>
            <a:ext cx="2560320" cy="502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Calibri"/>
              </a:rPr>
              <a:t>Synthetic /</a:t>
            </a:r>
          </a:p>
          <a:p>
            <a:pPr algn="ctr"/>
            <a:r>
              <a:rPr sz="1100" b="1">
                <a:solidFill>
                  <a:srgbClr val="F1F5F9"/>
                </a:solidFill>
                <a:latin typeface="Calibri"/>
              </a:rPr>
              <a:t>Manipulated Audio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509760" y="3520440"/>
            <a:ext cx="182880" cy="201168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21040" y="3813048"/>
            <a:ext cx="2560320" cy="502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Calibri"/>
              </a:rPr>
              <a:t>AI-Based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805172"/>
            <a:ext cx="2560320" cy="41148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59E0B"/>
                </a:solidFill>
                <a:latin typeface="Calibri"/>
              </a:rPr>
              <a:t>Genuine  or  Deepfake?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509760" y="4425696"/>
            <a:ext cx="182880" cy="256032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What is Audio Deepfake?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94A3B8"/>
                </a:solidFill>
                <a:latin typeface="Aptos Display" panose="020B0004020202020204" pitchFamily="34" charset="0"/>
              </a:rPr>
              <a:t>An audio deepfake is a synthetically generated or manipulated audio recording designed to mimic genuine human speech, often for deceptive purposes.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00400" cy="3291840"/>
          </a:xfrm>
          <a:prstGeom prst="roundRect">
            <a:avLst/>
          </a:prstGeom>
          <a:solidFill>
            <a:srgbClr val="151E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1. Text-to-Speech (TTS)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2926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94A3B8"/>
                </a:solidFill>
                <a:latin typeface="Aptos Display" panose="020B0004020202020204" pitchFamily="34" charset="0"/>
              </a:rPr>
              <a:t>AI converts written text into
natural-sounding speech audio.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3474720"/>
            <a:ext cx="2011680" cy="3474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Text Input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240280" y="3840480"/>
            <a:ext cx="182880" cy="201168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325880" y="4105656"/>
            <a:ext cx="2011680" cy="3474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TTS Model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240280" y="4471416"/>
            <a:ext cx="182880" cy="201168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325880" y="4736592"/>
            <a:ext cx="2011680" cy="3474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Synthetic Speech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011680"/>
            <a:ext cx="3200400" cy="3291840"/>
          </a:xfrm>
          <a:prstGeom prst="roundRect">
            <a:avLst/>
          </a:prstGeom>
          <a:solidFill>
            <a:srgbClr val="151E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2. Voice Conversion (VC)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06040"/>
            <a:ext cx="2926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94A3B8"/>
                </a:solidFill>
                <a:latin typeface="Aptos Display" panose="020B0004020202020204" pitchFamily="34" charset="0"/>
              </a:rPr>
              <a:t>Speaker A's voice is transformed
to sound like Speaker B.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474720"/>
            <a:ext cx="2011680" cy="3474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Speaker A Voice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806440" y="3840480"/>
            <a:ext cx="182880" cy="201168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892040" y="4105656"/>
            <a:ext cx="2011680" cy="3474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VC Model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06440" y="4471416"/>
            <a:ext cx="182880" cy="201168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92040" y="4736592"/>
            <a:ext cx="2011680" cy="3474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Speaker B Voice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2011680"/>
            <a:ext cx="3200400" cy="3291840"/>
          </a:xfrm>
          <a:prstGeom prst="roundRect">
            <a:avLst/>
          </a:prstGeom>
          <a:solidFill>
            <a:srgbClr val="151E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0100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3. Replay / Manipulated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606040"/>
            <a:ext cx="2926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94A3B8"/>
                </a:solidFill>
                <a:latin typeface="Aptos Display" panose="020B0004020202020204" pitchFamily="34" charset="0"/>
              </a:rPr>
              <a:t>Previously recorded speech is
replayed or digitally altered.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3474720"/>
            <a:ext cx="2011680" cy="3474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Recorded Audio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9372600" y="3840480"/>
            <a:ext cx="182880" cy="201168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58200" y="4105656"/>
            <a:ext cx="2011680" cy="3474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Manipulation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9372600" y="4471416"/>
            <a:ext cx="182880" cy="201168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58200" y="4736592"/>
            <a:ext cx="2011680" cy="3474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1F5F9"/>
                </a:solidFill>
                <a:latin typeface="Calibri"/>
              </a:rPr>
              <a:t>Altered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0698480" cy="109728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dirty="0">
                <a:solidFill>
                  <a:srgbClr val="F1F5F9"/>
                </a:solidFill>
                <a:latin typeface="Aptos Display" panose="020B0004020202020204" pitchFamily="34" charset="0"/>
              </a:rPr>
              <a:t>"Given an input audio recording, the objective is to develop an AI-based system</a:t>
            </a:r>
          </a:p>
          <a:p>
            <a:pPr algn="ctr"/>
            <a:r>
              <a:rPr sz="1500" b="0" dirty="0">
                <a:solidFill>
                  <a:srgbClr val="F1F5F9"/>
                </a:solidFill>
                <a:latin typeface="Aptos Display" panose="020B0004020202020204" pitchFamily="34" charset="0"/>
              </a:rPr>
              <a:t>that automatically determines whether the audio is genuine human speech</a:t>
            </a:r>
          </a:p>
          <a:p>
            <a:pPr algn="ctr"/>
            <a:r>
              <a:rPr sz="1500" b="0" dirty="0">
                <a:solidFill>
                  <a:srgbClr val="F1F5F9"/>
                </a:solidFill>
                <a:latin typeface="Aptos Display" panose="020B0004020202020204" pitchFamily="34" charset="0"/>
              </a:rPr>
              <a:t>or AI-generated / manipulated speech."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Calibri"/>
              </a:rPr>
              <a:t>Key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6400800" cy="1890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High realism of modern synthetic speech generation</a:t>
            </a:r>
          </a:p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Subtle spectral differences between genuine and fake audio</a:t>
            </a:r>
          </a:p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Multiple and diverse generation methods (TTS, VC, hybrid)</a:t>
            </a:r>
          </a:p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Speaker variability and recording condition variations</a:t>
            </a:r>
          </a:p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Generalization to unseen audio sources and techniques</a:t>
            </a:r>
          </a:p>
          <a:p>
            <a:pPr algn="l">
              <a:spcAft>
                <a:spcPts val="500"/>
              </a:spcAft>
            </a:pPr>
            <a:r>
              <a:rPr sz="16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600" dirty="0">
                <a:solidFill>
                  <a:srgbClr val="F1F5F9"/>
                </a:solidFill>
                <a:latin typeface="Aptos Display" panose="020B0004020202020204" pitchFamily="34" charset="0"/>
              </a:rPr>
              <a:t>Potential adversarial manipulation to evade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926080"/>
            <a:ext cx="1371600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10B981"/>
                </a:solidFill>
                <a:latin typeface="Calibri"/>
              </a:rPr>
              <a:t>🎤</a:t>
            </a:r>
          </a:p>
          <a:p>
            <a:pPr algn="ctr"/>
            <a:r>
              <a:rPr sz="1400" b="0">
                <a:solidFill>
                  <a:srgbClr val="10B981"/>
                </a:solidFill>
                <a:latin typeface="Calibri"/>
              </a:rPr>
              <a:t>Genuine?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94A3B8"/>
                </a:solidFill>
                <a:latin typeface="Calibri"/>
              </a:rPr>
              <a:t>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2926080"/>
            <a:ext cx="1371600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EF4444"/>
                </a:solidFill>
                <a:latin typeface="Calibri"/>
              </a:rPr>
              <a:t>🤖</a:t>
            </a:r>
          </a:p>
          <a:p>
            <a:pPr algn="ctr"/>
            <a:r>
              <a:rPr sz="1400" b="0">
                <a:solidFill>
                  <a:srgbClr val="EF4444"/>
                </a:solidFill>
                <a:latin typeface="Calibri"/>
              </a:rPr>
              <a:t>Deepfake?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28800" y="1097280"/>
            <a:ext cx="8503920" cy="64008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59E0B"/>
                </a:solidFill>
                <a:latin typeface="Calibri"/>
              </a:rPr>
              <a:t>Can AI-generated audio be distinguished from genuine human speech?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3474720" cy="164592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1F5F9"/>
                </a:solidFill>
                <a:latin typeface="Calibri"/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Voice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Protect biometric voice-ID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194560"/>
            <a:ext cx="3474720" cy="164592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19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1F5F9"/>
                </a:solidFill>
                <a:latin typeface="Calibri"/>
              </a:rP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Cybersecurity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Defend against voice phishing attacks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8" y="2194560"/>
            <a:ext cx="3474720" cy="164592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58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1F5F9"/>
                </a:solidFill>
                <a:latin typeface="Calibri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8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Digital Forensics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8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Verify authenticity of audio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06240"/>
            <a:ext cx="3474720" cy="164592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1F5F9"/>
                </a:solidFill>
                <a:latin typeface="Calibri"/>
              </a:rPr>
              <a:t>⚠️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Fraud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54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Detect voice impersonation in banking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206240"/>
            <a:ext cx="3474720" cy="164592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19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1F5F9"/>
                </a:solidFill>
                <a:latin typeface="Calibri"/>
              </a:rPr>
              <a:t>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Media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4754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Combat audio misinformation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598" y="4206240"/>
            <a:ext cx="3474720" cy="164592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58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1F5F9"/>
                </a:solidFill>
                <a:latin typeface="Calibri"/>
              </a:rPr>
              <a:t>⚖️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18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Legal /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18" y="4754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Validate digital evidence integrity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57200" cy="45720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C101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17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Calibri"/>
              </a:rPr>
              <a:t>To develop an AI-based audio deepfake detection system using ResNeXt.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965960"/>
            <a:ext cx="96012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2359152"/>
            <a:ext cx="457200" cy="45720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C101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487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Calibri"/>
              </a:rPr>
              <a:t>To preprocess audio recordings and convert them into suitable representations.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953512"/>
            <a:ext cx="96012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3346704"/>
            <a:ext cx="457200" cy="45720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C101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392424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Calibri"/>
              </a:rPr>
              <a:t>To extract relevant spectral/acoustic features (MFCC, LFCC, CQCC) from audio.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941064"/>
            <a:ext cx="96012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4334256"/>
            <a:ext cx="457200" cy="45720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C101A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79976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Calibri"/>
              </a:rPr>
              <a:t>To train a ResNeXt-based deep-learning model to classify genuine and deepfake audio.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28616"/>
            <a:ext cx="96012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5321808"/>
            <a:ext cx="457200" cy="45720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C101A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36752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Calibri"/>
              </a:rPr>
              <a:t>To evaluate the proposed system using standard performance metrics (Accuracy, EER, F1).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F1F5F9"/>
                </a:solidFill>
                <a:latin typeface="Calibri"/>
              </a:rPr>
              <a:t>Literature Survey — Paper </a:t>
            </a:r>
            <a:r>
              <a:rPr lang="en-US" sz="3000" b="1" dirty="0">
                <a:solidFill>
                  <a:srgbClr val="F1F5F9"/>
                </a:solidFill>
                <a:latin typeface="Calibri"/>
              </a:rPr>
              <a:t>1</a:t>
            </a:r>
            <a:endParaRPr sz="3000" b="1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Deepfake Audio Detection with Spectral Features and ResNeXt-Based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Knowledge-Based Systems,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94360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Uses spectral representations (MFCC, LFCC, CQCC) for audio deepfake detection</a:t>
            </a:r>
          </a:p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Proposes an enhanced </a:t>
            </a:r>
            <a:r>
              <a:rPr sz="1500" dirty="0" err="1">
                <a:solidFill>
                  <a:srgbClr val="F1F5F9"/>
                </a:solidFill>
                <a:latin typeface="Aptos Display" panose="020B0004020202020204" pitchFamily="34" charset="0"/>
              </a:rPr>
              <a:t>ResNeXt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-based classification architecture</a:t>
            </a:r>
          </a:p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Employs MLP-based feature fusion of multiple spectral modalities</a:t>
            </a:r>
          </a:p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Evaluates on </a:t>
            </a:r>
            <a:r>
              <a:rPr sz="1500" dirty="0" err="1">
                <a:solidFill>
                  <a:srgbClr val="F1F5F9"/>
                </a:solidFill>
                <a:latin typeface="Aptos Display" panose="020B0004020202020204" pitchFamily="34" charset="0"/>
              </a:rPr>
              <a:t>ASVspoof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 2019 and </a:t>
            </a:r>
            <a:r>
              <a:rPr sz="1500" dirty="0" err="1">
                <a:solidFill>
                  <a:srgbClr val="F1F5F9"/>
                </a:solidFill>
                <a:latin typeface="Aptos Display" panose="020B0004020202020204" pitchFamily="34" charset="0"/>
              </a:rPr>
              <a:t>ASVspoof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 2021 benchmark datasets</a:t>
            </a:r>
          </a:p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Demonstrates state-of-the-art Equal Error Rate (EER)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Reported Results (from the paper):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09160"/>
            <a:ext cx="256032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Calibri"/>
              </a:rPr>
              <a:t>ASVspoof 2019 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709160"/>
            <a:ext cx="1645920" cy="32004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EER = 1.05%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256032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Calibri"/>
              </a:rPr>
              <a:t>ASVspoof 2019 PA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074920"/>
            <a:ext cx="1645920" cy="32004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EER = 1.14%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0680"/>
            <a:ext cx="256032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Calibri"/>
              </a:rPr>
              <a:t>ASVspoof 2021 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5440680"/>
            <a:ext cx="1645920" cy="32004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2D3EE"/>
                </a:solidFill>
                <a:latin typeface="Calibri"/>
              </a:rPr>
              <a:t>EER = 7.44%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4754880"/>
            <a:ext cx="4389120" cy="411480"/>
          </a:xfrm>
          <a:prstGeom prst="roundRect">
            <a:avLst/>
          </a:prstGeom>
          <a:solidFill>
            <a:srgbClr val="2D150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59E0B"/>
                </a:solidFill>
                <a:latin typeface="Calibri"/>
              </a:rPr>
              <a:t>⚠  Results reported by Paper </a:t>
            </a:r>
            <a:r>
              <a:rPr lang="en-US" sz="1000" b="1" dirty="0">
                <a:solidFill>
                  <a:srgbClr val="F59E0B"/>
                </a:solidFill>
                <a:latin typeface="Calibri"/>
              </a:rPr>
              <a:t>1</a:t>
            </a:r>
            <a:r>
              <a:rPr sz="1000" b="1" dirty="0">
                <a:solidFill>
                  <a:srgbClr val="F59E0B"/>
                </a:solidFill>
                <a:latin typeface="Calibri"/>
              </a:rPr>
              <a:t> — NOT our project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560320"/>
            <a:ext cx="438912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dirty="0">
                <a:solidFill>
                  <a:srgbClr val="94A3B8"/>
                </a:solidFill>
                <a:latin typeface="Aptos Display" panose="020B0004020202020204" pitchFamily="34" charset="0"/>
              </a:rPr>
              <a:t>Approach:</a:t>
            </a:r>
          </a:p>
          <a:p>
            <a:pPr algn="ctr"/>
            <a:r>
              <a:rPr sz="1400" b="0" dirty="0">
                <a:solidFill>
                  <a:srgbClr val="94A3B8"/>
                </a:solidFill>
                <a:latin typeface="Aptos Display" panose="020B0004020202020204" pitchFamily="34" charset="0"/>
              </a:rPr>
              <a:t>MFCC + LFCC + CQCC → </a:t>
            </a:r>
            <a:r>
              <a:rPr sz="1400" b="0" dirty="0" err="1">
                <a:solidFill>
                  <a:srgbClr val="94A3B8"/>
                </a:solidFill>
                <a:latin typeface="Aptos Display" panose="020B0004020202020204" pitchFamily="34" charset="0"/>
              </a:rPr>
              <a:t>ResNeXt</a:t>
            </a:r>
            <a:r>
              <a:rPr sz="1400" b="0" dirty="0">
                <a:solidFill>
                  <a:srgbClr val="94A3B8"/>
                </a:solidFill>
                <a:latin typeface="Aptos Display" panose="020B0004020202020204" pitchFamily="34" charset="0"/>
              </a:rPr>
              <a:t> →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[2] "Deepfake audio detection with spectral features and ResNeXt-based architecture," Knowledge-Based Systems, 2025.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F1F5F9"/>
                </a:solidFill>
                <a:latin typeface="Calibri"/>
              </a:rPr>
              <a:t>Literature Survey — Paper </a:t>
            </a:r>
            <a:r>
              <a:rPr lang="en-US" sz="3000" b="1" dirty="0">
                <a:solidFill>
                  <a:srgbClr val="F1F5F9"/>
                </a:solidFill>
                <a:latin typeface="Calibri"/>
              </a:rPr>
              <a:t>2</a:t>
            </a:r>
            <a:endParaRPr sz="3000" b="1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Audio-Deepfake Detection: Adversarial Attacks and Countermeasures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M. Rabhi, S. Bakiras, R. Di Pietro  •  Expert Systems with Applications,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383"/>
            <a:ext cx="594360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Investigates vulnerabilities of audio deepfake detection systems</a:t>
            </a:r>
          </a:p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Studies adversarial attacks (GAN-based) against audio deepfake detectors</a:t>
            </a:r>
          </a:p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Evaluates the impact of adversarial perturbations on detector performance</a:t>
            </a:r>
          </a:p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Proposes and analyzes countermeasures and defense mechanisms</a:t>
            </a:r>
          </a:p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Demonstrates importance of robustness evaluation for detection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Key Reported Finding (from the paper):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6858000" cy="9144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1F5F9"/>
                </a:solidFill>
                <a:latin typeface="Calibri"/>
              </a:rPr>
              <a:t>A detector achieving ~98.5% accuracy under normal conditions</a:t>
            </a:r>
          </a:p>
          <a:p>
            <a:pPr algn="ctr"/>
            <a:r>
              <a:rPr sz="1300" b="0">
                <a:solidFill>
                  <a:srgbClr val="F1F5F9"/>
                </a:solidFill>
                <a:latin typeface="Calibri"/>
              </a:rPr>
              <a:t>was reported to suffer severe accuracy degradation</a:t>
            </a:r>
          </a:p>
          <a:p>
            <a:pPr algn="ctr"/>
            <a:r>
              <a:rPr sz="1300" b="0">
                <a:solidFill>
                  <a:srgbClr val="F1F5F9"/>
                </a:solidFill>
                <a:latin typeface="Calibri"/>
              </a:rPr>
              <a:t>under adversarial attack scenarios.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937760"/>
            <a:ext cx="3931920" cy="411480"/>
          </a:xfrm>
          <a:prstGeom prst="roundRect">
            <a:avLst/>
          </a:prstGeom>
          <a:solidFill>
            <a:srgbClr val="2D150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59E0B"/>
                </a:solidFill>
                <a:latin typeface="Calibri"/>
              </a:rPr>
              <a:t>⚠  Result reported by Paper </a:t>
            </a:r>
            <a:r>
              <a:rPr lang="en-US" sz="1000" b="1" dirty="0">
                <a:solidFill>
                  <a:srgbClr val="F59E0B"/>
                </a:solidFill>
                <a:latin typeface="Calibri"/>
              </a:rPr>
              <a:t>2</a:t>
            </a:r>
            <a:r>
              <a:rPr sz="1000" b="1" dirty="0">
                <a:solidFill>
                  <a:srgbClr val="F59E0B"/>
                </a:solidFill>
                <a:latin typeface="Calibri"/>
              </a:rPr>
              <a:t> — NOT our project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560320"/>
            <a:ext cx="4114800" cy="822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Relevance: Motivates robustness evaluation</a:t>
            </a:r>
          </a:p>
          <a:p>
            <a:pPr algn="ctr"/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and adversarial-aware design in our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[1] M. Rabhi, S. Bakiras, R. Di Pietro, "Audio-deepfake detection: Adversarial attacks and countermeasures," Expert Systems with Applications, 2024.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Comparison of Research Papers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231161"/>
              </p:ext>
            </p:extLst>
          </p:nvPr>
        </p:nvGraphicFramePr>
        <p:xfrm>
          <a:off x="548640" y="1188720"/>
          <a:ext cx="64465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C101A"/>
                          </a:solidFill>
                          <a:latin typeface="Aptos Display" panose="020B0004020202020204" pitchFamily="34" charset="0"/>
                        </a:rPr>
                        <a:t>Aspect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0C101A"/>
                          </a:solidFill>
                          <a:latin typeface="Aptos Display" panose="020B0004020202020204" pitchFamily="34" charset="0"/>
                        </a:rPr>
                        <a:t>Paper </a:t>
                      </a:r>
                      <a:r>
                        <a:rPr lang="en-US" sz="1400" b="1" dirty="0">
                          <a:solidFill>
                            <a:srgbClr val="0C101A"/>
                          </a:solidFill>
                          <a:latin typeface="Aptos Display" panose="020B0004020202020204" pitchFamily="34" charset="0"/>
                        </a:rPr>
                        <a:t>1</a:t>
                      </a:r>
                      <a:r>
                        <a:rPr sz="1400" b="1" dirty="0">
                          <a:solidFill>
                            <a:srgbClr val="0C101A"/>
                          </a:solidFill>
                          <a:latin typeface="Aptos Display" panose="020B0004020202020204" pitchFamily="34" charset="0"/>
                        </a:rPr>
                        <a:t> (KBS, 2025)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D3EE"/>
                          </a:solidFill>
                          <a:latin typeface="Aptos Display" panose="020B0004020202020204" pitchFamily="34" charset="0"/>
                        </a:rPr>
                        <a:t>Year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2025</a:t>
                      </a:r>
                    </a:p>
                  </a:txBody>
                  <a:tcPr anchor="ctr">
                    <a:solidFill>
                      <a:srgbClr val="11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D3EE"/>
                          </a:solidFill>
                          <a:latin typeface="Aptos Display" panose="020B0004020202020204" pitchFamily="34" charset="0"/>
                        </a:rPr>
                        <a:t>Main Focus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Spectral features &amp;</a:t>
                      </a:r>
                      <a:r>
                        <a:rPr lang="en-US"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 </a:t>
                      </a:r>
                      <a:r>
                        <a:rPr sz="1400" dirty="0" err="1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ResNeXt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architecture</a:t>
                      </a:r>
                    </a:p>
                  </a:txBody>
                  <a:tcPr anchor="ctr">
                    <a:solidFill>
                      <a:srgbClr val="15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D3EE"/>
                          </a:solidFill>
                          <a:latin typeface="Aptos Display" panose="020B0004020202020204" pitchFamily="34" charset="0"/>
                        </a:rPr>
                        <a:t>Detection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22D3EE"/>
                          </a:solidFill>
                          <a:latin typeface="Aptos Display" panose="020B0004020202020204" pitchFamily="34" charset="0"/>
                        </a:rPr>
                        <a:t>Approach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Spectral feature-based</a:t>
                      </a:r>
                      <a:r>
                        <a:rPr lang="en-US"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classification</a:t>
                      </a:r>
                    </a:p>
                  </a:txBody>
                  <a:tcPr anchor="ctr">
                    <a:solidFill>
                      <a:srgbClr val="11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D3EE"/>
                          </a:solidFill>
                          <a:latin typeface="Aptos Display" panose="020B0004020202020204" pitchFamily="34" charset="0"/>
                        </a:rPr>
                        <a:t>Model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Enhanced </a:t>
                      </a:r>
                      <a:r>
                        <a:rPr sz="1400" dirty="0" err="1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ResNeXt</a:t>
                      </a:r>
                      <a:r>
                        <a:rPr lang="en-US"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with MLP fusion</a:t>
                      </a:r>
                    </a:p>
                  </a:txBody>
                  <a:tcPr anchor="ctr">
                    <a:solidFill>
                      <a:srgbClr val="15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D3EE"/>
                          </a:solidFill>
                          <a:latin typeface="Aptos Display" panose="020B0004020202020204" pitchFamily="34" charset="0"/>
                        </a:rPr>
                        <a:t>Features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MFCC, LFCC, CQCC</a:t>
                      </a:r>
                      <a:r>
                        <a:rPr lang="en-US"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spectral features</a:t>
                      </a:r>
                    </a:p>
                  </a:txBody>
                  <a:tcPr anchor="ctr">
                    <a:solidFill>
                      <a:srgbClr val="11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D3EE"/>
                          </a:solidFill>
                          <a:latin typeface="Aptos Display" panose="020B0004020202020204" pitchFamily="34" charset="0"/>
                        </a:rPr>
                        <a:t>Evaluation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ASVspoof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2019 &amp; 2021</a:t>
                      </a:r>
                      <a:r>
                        <a:rPr lang="en-US"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benchmark datasets</a:t>
                      </a:r>
                    </a:p>
                  </a:txBody>
                  <a:tcPr anchor="ctr">
                    <a:solidFill>
                      <a:srgbClr val="15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D3EE"/>
                          </a:solidFill>
                          <a:latin typeface="Aptos Display" panose="020B0004020202020204" pitchFamily="34" charset="0"/>
                        </a:rPr>
                        <a:t>Key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22D3EE"/>
                          </a:solidFill>
                          <a:latin typeface="Aptos Display" panose="020B0004020202020204" pitchFamily="34" charset="0"/>
                        </a:rPr>
                        <a:t>Contribution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Low-EER detection with</a:t>
                      </a:r>
                      <a:r>
                        <a:rPr lang="en-US"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spectral + </a:t>
                      </a:r>
                      <a:r>
                        <a:rPr sz="1400" dirty="0" err="1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ResNeXt</a:t>
                      </a:r>
                      <a:endParaRPr sz="1400" dirty="0">
                        <a:solidFill>
                          <a:srgbClr val="F1F5F9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anchor="ctr">
                    <a:solidFill>
                      <a:srgbClr val="11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D3EE"/>
                          </a:solidFill>
                          <a:latin typeface="Aptos Display" panose="020B0004020202020204" pitchFamily="34" charset="0"/>
                        </a:rPr>
                        <a:t>Relevance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22D3EE"/>
                          </a:solidFill>
                          <a:latin typeface="Aptos Display" panose="020B0004020202020204" pitchFamily="34" charset="0"/>
                        </a:rPr>
                        <a:t>to Our Project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Directly inspires our</a:t>
                      </a:r>
                      <a:r>
                        <a:rPr lang="en-US"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model architecture</a:t>
                      </a:r>
                    </a:p>
                  </a:txBody>
                  <a:tcPr anchor="ctr">
                    <a:solidFill>
                      <a:srgbClr val="15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1C30D13-C582-A7EA-35D8-0A30D1A38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785594"/>
              </p:ext>
            </p:extLst>
          </p:nvPr>
        </p:nvGraphicFramePr>
        <p:xfrm>
          <a:off x="6995160" y="1188720"/>
          <a:ext cx="46177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7720">
                  <a:extLst>
                    <a:ext uri="{9D8B030D-6E8A-4147-A177-3AD203B41FA5}">
                      <a16:colId xmlns:a16="http://schemas.microsoft.com/office/drawing/2014/main" val="1229433497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0C101A"/>
                          </a:solidFill>
                          <a:latin typeface="Aptos Display" panose="020B0004020202020204" pitchFamily="34" charset="0"/>
                        </a:rPr>
                        <a:t>Paper </a:t>
                      </a:r>
                      <a:r>
                        <a:rPr lang="en-US" sz="1400" b="1" dirty="0">
                          <a:solidFill>
                            <a:srgbClr val="0C101A"/>
                          </a:solidFill>
                          <a:latin typeface="Aptos Display" panose="020B0004020202020204" pitchFamily="34" charset="0"/>
                        </a:rPr>
                        <a:t>2</a:t>
                      </a:r>
                      <a:r>
                        <a:rPr sz="1400" b="1" dirty="0">
                          <a:solidFill>
                            <a:srgbClr val="0C101A"/>
                          </a:solidFill>
                          <a:latin typeface="Aptos Display" panose="020B0004020202020204" pitchFamily="34" charset="0"/>
                        </a:rPr>
                        <a:t> (Rabhi et al., 2024)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5185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2024</a:t>
                      </a:r>
                    </a:p>
                  </a:txBody>
                  <a:tcPr anchor="ctr">
                    <a:solidFill>
                      <a:srgbClr val="11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930978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Adversarial attacks &amp;</a:t>
                      </a:r>
                      <a:r>
                        <a:rPr lang="en-US"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countermeasures</a:t>
                      </a:r>
                    </a:p>
                  </a:txBody>
                  <a:tcPr anchor="ctr">
                    <a:solidFill>
                      <a:srgbClr val="15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3722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Evaluates detector</a:t>
                      </a:r>
                      <a:r>
                        <a:rPr lang="en-US"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vulnerabilities</a:t>
                      </a:r>
                    </a:p>
                  </a:txBody>
                  <a:tcPr anchor="ctr">
                    <a:solidFill>
                      <a:srgbClr val="11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542748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Existing detector +</a:t>
                      </a:r>
                      <a:r>
                        <a:rPr lang="en-US"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adversarial analysis</a:t>
                      </a:r>
                    </a:p>
                  </a:txBody>
                  <a:tcPr anchor="ctr">
                    <a:solidFill>
                      <a:srgbClr val="15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69455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Various audio</a:t>
                      </a:r>
                      <a:r>
                        <a:rPr lang="en-US"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representations</a:t>
                      </a:r>
                    </a:p>
                  </a:txBody>
                  <a:tcPr anchor="ctr">
                    <a:solidFill>
                      <a:srgbClr val="11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6425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Adversarial attack</a:t>
                      </a:r>
                      <a:r>
                        <a:rPr lang="en-US"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scenarios</a:t>
                      </a:r>
                    </a:p>
                  </a:txBody>
                  <a:tcPr anchor="ctr">
                    <a:solidFill>
                      <a:srgbClr val="15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310569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Robustness analysis &amp;</a:t>
                      </a:r>
                      <a:r>
                        <a:rPr lang="en-US"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defense strategies</a:t>
                      </a:r>
                    </a:p>
                  </a:txBody>
                  <a:tcPr anchor="ctr">
                    <a:solidFill>
                      <a:srgbClr val="11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29257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Motivates robustness</a:t>
                      </a:r>
                      <a:r>
                        <a:rPr lang="en-US"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sz="1400" dirty="0">
                          <a:solidFill>
                            <a:srgbClr val="F1F5F9"/>
                          </a:solidFill>
                          <a:latin typeface="Aptos Display" panose="020B0004020202020204" pitchFamily="34" charset="0"/>
                        </a:rPr>
                        <a:t>evaluation</a:t>
                      </a:r>
                    </a:p>
                  </a:txBody>
                  <a:tcPr anchor="ctr">
                    <a:solidFill>
                      <a:srgbClr val="15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1978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11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Existing Audio Deepfake Detection Approaches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94960" cy="100584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411480" cy="41148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C101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280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Traditional Signal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Handcrafted acoustic features, statistical methods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394960" cy="100584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5080" y="1325880"/>
            <a:ext cx="411480" cy="41148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C101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280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MFCC / LFCC / CQCC-Based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Spectral cepstral coefficient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23160"/>
            <a:ext cx="5394960" cy="100584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5800" y="2560320"/>
            <a:ext cx="411480" cy="41148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C101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514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CNN-Based Approaches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80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Convolutional neural networks on spectrograms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423160"/>
            <a:ext cx="5394960" cy="100584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55080" y="2560320"/>
            <a:ext cx="411480" cy="41148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C101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514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ResNet-Based Approaches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880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Residual networks with skip connections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57600"/>
            <a:ext cx="5394960" cy="1005840"/>
          </a:xfrm>
          <a:prstGeom prst="roundRect">
            <a:avLst/>
          </a:prstGeom>
          <a:solidFill>
            <a:srgbClr val="1A201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85800" y="3794760"/>
            <a:ext cx="411480" cy="411480"/>
          </a:xfrm>
          <a:prstGeom prst="roundRect">
            <a:avLst/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C101A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749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ResNeXt-Based Approaches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114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Grouped convolutions with cardinality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37673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← Our Proposed Approach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657600"/>
            <a:ext cx="5394960" cy="100584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55080" y="3794760"/>
            <a:ext cx="411480" cy="41148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C101A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749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RNN / LSTM-Based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14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Sequential temporal pattern modeling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92040"/>
            <a:ext cx="5394960" cy="100584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85800" y="5029200"/>
            <a:ext cx="411480" cy="41148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C101A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983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End-to-End Deep 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349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Raw waveform to classification directly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92040"/>
            <a:ext cx="5394960" cy="100584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355080" y="5029200"/>
            <a:ext cx="411480" cy="41148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C101A"/>
                </a:solidFill>
                <a:latin typeface="Calibr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983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Adversarially Robust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349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Defense-aware training strategies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71600" y="6035040"/>
            <a:ext cx="9418320" cy="4572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Calibri"/>
              </a:rPr>
              <a:t>Proposed Project  →  Spectral Features (MFCC + LFCC + CQCC)  +  ResNeXt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Why ResNeXt?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005435"/>
            <a:ext cx="6020088" cy="3182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 err="1">
                <a:solidFill>
                  <a:srgbClr val="F1F5F9"/>
                </a:solidFill>
                <a:latin typeface="Aptos Display" panose="020B0004020202020204" pitchFamily="34" charset="0"/>
              </a:rPr>
              <a:t>ResNeXt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 is a deep neural-network architecture derived from residual networks (</a:t>
            </a:r>
            <a:r>
              <a:rPr sz="1500" dirty="0" err="1">
                <a:solidFill>
                  <a:srgbClr val="F1F5F9"/>
                </a:solidFill>
                <a:latin typeface="Aptos Display" panose="020B0004020202020204" pitchFamily="34" charset="0"/>
              </a:rPr>
              <a:t>ResNet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)</a:t>
            </a:r>
          </a:p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Introduces "cardinality" — multiple parallel transformation paths within each block</a:t>
            </a:r>
          </a:p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Each parallel path learns different feature representations from the same input</a:t>
            </a:r>
          </a:p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Residual / skip connections help train deeper networks by preventing vanishing gradients</a:t>
            </a:r>
          </a:p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Can learn complex discriminative patterns from spectral feature representations</a:t>
            </a:r>
          </a:p>
          <a:p>
            <a:pPr algn="l">
              <a:spcAft>
                <a:spcPts val="500"/>
              </a:spcAft>
            </a:pPr>
            <a:r>
              <a:rPr sz="1500" dirty="0">
                <a:solidFill>
                  <a:srgbClr val="06B6D4"/>
                </a:solidFill>
                <a:latin typeface="Aptos Display" panose="020B0004020202020204" pitchFamily="34" charset="0"/>
              </a:rPr>
              <a:t>▸ 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Paper 2 demonstrates enhanced </a:t>
            </a:r>
            <a:r>
              <a:rPr sz="1500" dirty="0" err="1">
                <a:solidFill>
                  <a:srgbClr val="F1F5F9"/>
                </a:solidFill>
                <a:latin typeface="Aptos Display" panose="020B0004020202020204" pitchFamily="34" charset="0"/>
              </a:rPr>
              <a:t>ResNeXt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 achieves low EER on </a:t>
            </a:r>
            <a:r>
              <a:rPr sz="1500" dirty="0" err="1">
                <a:solidFill>
                  <a:srgbClr val="F1F5F9"/>
                </a:solidFill>
                <a:latin typeface="Aptos Display" panose="020B0004020202020204" pitchFamily="34" charset="0"/>
              </a:rPr>
              <a:t>ASVspoof</a:t>
            </a:r>
            <a:r>
              <a:rPr sz="1500" dirty="0">
                <a:solidFill>
                  <a:srgbClr val="F1F5F9"/>
                </a:solidFill>
                <a:latin typeface="Aptos Display" panose="020B0004020202020204" pitchFamily="34" charset="0"/>
              </a:rPr>
              <a:t> benchmarks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2286000" cy="365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1F5F9"/>
                </a:solidFill>
                <a:latin typeface="Calibri"/>
              </a:rPr>
              <a:t>Input Feature Map</a:t>
            </a:r>
          </a:p>
        </p:txBody>
      </p:sp>
      <p:sp>
        <p:nvSpPr>
          <p:cNvPr id="9" name="Down Arrow 8"/>
          <p:cNvSpPr/>
          <p:nvPr/>
        </p:nvSpPr>
        <p:spPr>
          <a:xfrm>
            <a:off x="9052560" y="1691640"/>
            <a:ext cx="182880" cy="22860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Split (Cardinality = 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286000"/>
            <a:ext cx="594360" cy="9144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06B6D4"/>
                </a:solidFill>
                <a:latin typeface="Calibri"/>
              </a:rPr>
              <a:t>Path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286000"/>
            <a:ext cx="594360" cy="9144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10B981"/>
                </a:solidFill>
                <a:latin typeface="Calibri"/>
              </a:rPr>
              <a:t>Path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286000"/>
            <a:ext cx="594360" cy="9144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Path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2286000"/>
            <a:ext cx="594360" cy="9144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A78BFA"/>
                </a:solidFill>
                <a:latin typeface="Calibri"/>
              </a:rPr>
              <a:t>Path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···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Aggregate (Sum)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566160"/>
            <a:ext cx="2286000" cy="502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1F5F9"/>
                </a:solidFill>
                <a:latin typeface="Calibri"/>
              </a:rPr>
              <a:t>Aggregation</a:t>
            </a:r>
          </a:p>
          <a:p>
            <a:pPr algn="ctr"/>
            <a:r>
              <a:rPr sz="1000" b="1">
                <a:solidFill>
                  <a:srgbClr val="F1F5F9"/>
                </a:solidFill>
                <a:latin typeface="Calibri"/>
              </a:rPr>
              <a:t>(Element-wise Sum)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>
                <a:solidFill>
                  <a:srgbClr val="22D3EE"/>
                </a:solidFill>
                <a:latin typeface="Calibri"/>
              </a:rPr>
              <a:t>＋  Residual (Skip) Connection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590288"/>
            <a:ext cx="2286000" cy="365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1F5F9"/>
                </a:solidFill>
                <a:latin typeface="Calibri"/>
              </a:rPr>
              <a:t>Output Feature Map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052560" y="4114800"/>
            <a:ext cx="182880" cy="27432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348" y="427939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2D3EE"/>
                </a:solidFill>
                <a:latin typeface="Aptos Display" panose="020B0004020202020204" pitchFamily="34" charset="0"/>
              </a:rPr>
              <a:t>Key Concepts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09007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6B6D4"/>
                </a:solidFill>
                <a:latin typeface="Aptos Display" panose="020B0004020202020204" pitchFamily="34" charset="0"/>
              </a:rPr>
              <a:t>▸ Cardinality: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572000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Number of parallel paths — increases feature diversity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37760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 Display" panose="020B0004020202020204" pitchFamily="34" charset="0"/>
              </a:rPr>
              <a:t>▸ Bottleneck: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937760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 Display" panose="020B0004020202020204" pitchFamily="34" charset="0"/>
              </a:rPr>
              <a:t>1×1 conv reduces channels before expensive 3×3 conv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49240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 Display" panose="020B0004020202020204" pitchFamily="34" charset="0"/>
              </a:rPr>
              <a:t>▸ Skip Connection: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335524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 Display" panose="020B0004020202020204" pitchFamily="34" charset="0"/>
              </a:rPr>
              <a:t>Adds input to output — prevents gradient vanishing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60720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 Display" panose="020B0004020202020204" pitchFamily="34" charset="0"/>
              </a:rPr>
              <a:t>▸ Grouped Conv: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760720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Parallel sub-convolutions on channel groups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Audio Feature Extraction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566160" cy="2743200"/>
          </a:xfrm>
          <a:prstGeom prst="roundRect">
            <a:avLst/>
          </a:prstGeom>
          <a:solidFill>
            <a:srgbClr val="15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6B6D4"/>
                </a:solidFill>
                <a:latin typeface="Calibri"/>
              </a:rPr>
              <a:t>MFCC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Mel-Frequency Cepstral Coefficients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3200400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Calibri"/>
              </a:rPr>
              <a:t>Mel-scale filterbank mimics human hearing.
Captures vocal tract shape and spectral envelope.
Standard feature for speech processing.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88720"/>
            <a:ext cx="3566160" cy="2743200"/>
          </a:xfrm>
          <a:prstGeom prst="roundRect">
            <a:avLst/>
          </a:prstGeom>
          <a:solidFill>
            <a:srgbClr val="15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LFCC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Linear-Frequency Cepstral Coefficients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194560"/>
            <a:ext cx="3200400" cy="137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2860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Calibri"/>
              </a:rPr>
              <a:t>Linear filterbank with equal bandwidth.
Preserves high-frequency resolution uniformly.
Detects subtle synthesis artifacts above 4 kHz.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188720"/>
            <a:ext cx="3566160" cy="2743200"/>
          </a:xfrm>
          <a:prstGeom prst="roundRect">
            <a:avLst/>
          </a:prstGeom>
          <a:solidFill>
            <a:srgbClr val="15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Calibri"/>
              </a:rPr>
              <a:t>CQCC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Constant-Q Cepstral Coefficients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194560"/>
            <a:ext cx="3200400" cy="137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Calibri"/>
              </a:rPr>
              <a:t>Geometrically-spaced frequency bins.
Captures pitch and harmonic relationships.
Detects fundamental frequency glitches in TTS.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1828800" cy="365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Calibri"/>
              </a:rPr>
              <a:t>Input Audio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606040" y="4498848"/>
            <a:ext cx="365760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108960" y="4389120"/>
            <a:ext cx="2011680" cy="365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Calibri"/>
              </a:rPr>
              <a:t>Spectral Analysis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166360" y="4498848"/>
            <a:ext cx="365760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669280" y="4160520"/>
            <a:ext cx="1005840" cy="32004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6B6D4"/>
                </a:solidFill>
                <a:latin typeface="Calibri"/>
              </a:rPr>
              <a:t>MFCC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526280"/>
            <a:ext cx="1005840" cy="32004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0B981"/>
                </a:solidFill>
                <a:latin typeface="Calibri"/>
              </a:rPr>
              <a:t>LFCC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4892040"/>
            <a:ext cx="1005840" cy="32004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59E0B"/>
                </a:solidFill>
                <a:latin typeface="Calibri"/>
              </a:rPr>
              <a:t>CQCC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766560" y="4498848"/>
            <a:ext cx="365760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315200" y="4297680"/>
            <a:ext cx="2011680" cy="640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1F5F9"/>
                </a:solidFill>
                <a:latin typeface="Calibri"/>
              </a:rPr>
              <a:t>Feature Processing</a:t>
            </a:r>
          </a:p>
          <a:p>
            <a:pPr algn="ctr"/>
            <a:r>
              <a:rPr sz="1100" b="1">
                <a:solidFill>
                  <a:srgbClr val="F1F5F9"/>
                </a:solidFill>
                <a:latin typeface="Calibri"/>
              </a:rPr>
              <a:t>/ Fusion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418320" y="4498848"/>
            <a:ext cx="365760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875520" y="4297680"/>
            <a:ext cx="1371600" cy="640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59E0B"/>
                </a:solidFill>
                <a:latin typeface="Calibri"/>
              </a:rPr>
              <a:t>Model</a:t>
            </a:r>
          </a:p>
          <a:p>
            <a:pPr algn="ctr"/>
            <a:r>
              <a:rPr sz="1100" b="1">
                <a:solidFill>
                  <a:srgbClr val="F59E0B"/>
                </a:solidFill>
                <a:latin typeface="Calibri"/>
              </a:rPr>
              <a:t>Input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Proposed 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038904" y="1143000"/>
            <a:ext cx="4114800" cy="50292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Calibri"/>
              </a:rPr>
              <a:t>Audio Input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04864" y="1664208"/>
            <a:ext cx="182880" cy="256032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038904" y="1965960"/>
            <a:ext cx="4114800" cy="50292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Calibri"/>
              </a:rPr>
              <a:t>Audio Preprocessing</a:t>
            </a:r>
          </a:p>
          <a:p>
            <a:pPr algn="ctr"/>
            <a:r>
              <a:rPr sz="1200" b="1">
                <a:solidFill>
                  <a:srgbClr val="F1F5F9"/>
                </a:solidFill>
                <a:latin typeface="Calibri"/>
              </a:rPr>
              <a:t>(Resample · Trim · Normalize · Pad)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04864" y="2487168"/>
            <a:ext cx="182880" cy="256032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038904" y="2788920"/>
            <a:ext cx="4114800" cy="50292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Calibri"/>
              </a:rPr>
              <a:t>Spectral Feature Extraction</a:t>
            </a:r>
          </a:p>
          <a:p>
            <a:pPr algn="ctr"/>
            <a:r>
              <a:rPr sz="1200" b="1">
                <a:solidFill>
                  <a:srgbClr val="F1F5F9"/>
                </a:solidFill>
                <a:latin typeface="Calibri"/>
              </a:rPr>
              <a:t>(MFCC + LFCC + CQCC)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004864" y="3310128"/>
            <a:ext cx="182880" cy="256032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38904" y="3611880"/>
            <a:ext cx="4114800" cy="50292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Calibri"/>
              </a:rPr>
              <a:t>Feature Processing / Fusion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004864" y="4133088"/>
            <a:ext cx="182880" cy="256032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038904" y="4434840"/>
            <a:ext cx="4114800" cy="50292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Calibri"/>
              </a:rPr>
              <a:t>ResNeXt Deep Learning Model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04864" y="4956048"/>
            <a:ext cx="182880" cy="256032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038904" y="5257800"/>
            <a:ext cx="4114800" cy="50292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1F5F9"/>
                </a:solidFill>
                <a:latin typeface="Calibri"/>
              </a:rPr>
              <a:t>Classification Layer</a:t>
            </a:r>
          </a:p>
          <a:p>
            <a:pPr algn="ctr"/>
            <a:r>
              <a:rPr sz="1200" b="1">
                <a:solidFill>
                  <a:srgbClr val="F1F5F9"/>
                </a:solidFill>
                <a:latin typeface="Calibri"/>
              </a:rPr>
              <a:t>(Sigmoid Output)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004864" y="5943600"/>
            <a:ext cx="182880" cy="22860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57600" y="6263640"/>
            <a:ext cx="2011680" cy="4572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✓ GENUINE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6263640"/>
            <a:ext cx="2011680" cy="4572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 DEEPFAKE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1463040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 Display" panose="020B0004020202020204" pitchFamily="34" charset="0"/>
              </a:rPr>
              <a:t>16 kHz, 2-sec clips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28600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64748B"/>
                </a:solidFill>
                <a:latin typeface="Aptos Display" panose="020B0004020202020204" pitchFamily="34" charset="0"/>
              </a:rPr>
              <a:t>Silence removal,
normalization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10896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 Display" panose="020B0004020202020204" pitchFamily="34" charset="0"/>
              </a:rPr>
              <a:t>78-dim feature
vector per clip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93192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 Display" panose="020B0004020202020204" pitchFamily="34" charset="0"/>
              </a:rPr>
              <a:t>Concatenation +
scaling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75488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 Display" panose="020B0004020202020204" pitchFamily="34" charset="0"/>
              </a:rPr>
              <a:t>Grouped conv +
residual blocks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126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Main Technical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1000" y="6446520"/>
            <a:ext cx="61908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Aptos Display" panose="020B0004020202020204" pitchFamily="34" charset="0"/>
              </a:rPr>
              <a:t>15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1F5F9"/>
                </a:solidFill>
                <a:latin typeface="Aptos Display" panose="020B0004020202020204" pitchFamily="34" charset="0"/>
              </a:rPr>
              <a:t>Proposed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868680" cy="41148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C101A"/>
                </a:solidFill>
                <a:latin typeface="Aptos Display" panose="020B0004020202020204" pitchFamily="34" charset="0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097280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 Display" panose="020B0004020202020204" pitchFamily="34" charset="0"/>
              </a:rPr>
              <a:t>Audio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05859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94A3B8"/>
                </a:solidFill>
                <a:latin typeface="Aptos Display" panose="020B0004020202020204" pitchFamily="34" charset="0"/>
              </a:rPr>
              <a:t>Collect genuine and deepfake
audio samples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12080" y="1344168"/>
            <a:ext cx="457200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868680" cy="41148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C101A"/>
                </a:solidFill>
                <a:latin typeface="Aptos Display" panose="020B0004020202020204" pitchFamily="34" charset="0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097280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 Display" panose="020B0004020202020204" pitchFamily="34" charset="0"/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289411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94A3B8"/>
                </a:solidFill>
                <a:latin typeface="Aptos Display" panose="020B0004020202020204" pitchFamily="34" charset="0"/>
              </a:rPr>
              <a:t>Normalize format, sampling rate
and signal characteristics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14600"/>
            <a:ext cx="868680" cy="41148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C101A"/>
                </a:solidFill>
                <a:latin typeface="Aptos Display" panose="020B0004020202020204" pitchFamily="34" charset="0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423160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 Display" panose="020B0004020202020204" pitchFamily="34" charset="0"/>
              </a:rPr>
              <a:t>Feature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70601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94A3B8"/>
                </a:solidFill>
                <a:latin typeface="Aptos Display" panose="020B0004020202020204" pitchFamily="34" charset="0"/>
              </a:rPr>
              <a:t>Generate MFCC, LFCC and
CQCC representations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12080" y="2670048"/>
            <a:ext cx="457200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0" y="2514600"/>
            <a:ext cx="868680" cy="41148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C101A"/>
                </a:solidFill>
                <a:latin typeface="Aptos Display" panose="020B0004020202020204" pitchFamily="34" charset="0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23160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 Display" panose="020B0004020202020204" pitchFamily="34" charset="0"/>
              </a:rPr>
              <a:t>Feature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635704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94A3B8"/>
                </a:solidFill>
                <a:latin typeface="Aptos Display" panose="020B0004020202020204" pitchFamily="34" charset="0"/>
              </a:rPr>
              <a:t>Prepare / fuse feature
representations for model input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40480"/>
            <a:ext cx="868680" cy="41148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C101A"/>
                </a:solidFill>
                <a:latin typeface="Aptos Display" panose="020B0004020202020204" pitchFamily="34" charset="0"/>
              </a:rP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749040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 Display" panose="020B0004020202020204" pitchFamily="34" charset="0"/>
              </a:rPr>
              <a:t>ResNeXt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987337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 Display" panose="020B0004020202020204" pitchFamily="34" charset="0"/>
              </a:rPr>
              <a:t>Train classifier using
labelled audio samples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12080" y="3995928"/>
            <a:ext cx="457200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0" y="3840480"/>
            <a:ext cx="868680" cy="41148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C101A"/>
                </a:solidFill>
                <a:latin typeface="Aptos Display" panose="020B0004020202020204" pitchFamily="34" charset="0"/>
              </a:rP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749040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 Display" panose="020B0004020202020204" pitchFamily="34" charset="0"/>
              </a:rP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979872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 Display" panose="020B0004020202020204" pitchFamily="34" charset="0"/>
              </a:rPr>
              <a:t>Tune and validate model
using validation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166360"/>
            <a:ext cx="868680" cy="411480"/>
          </a:xfrm>
          <a:prstGeom prst="roundRect">
            <a:avLst/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C101A"/>
                </a:solidFill>
                <a:latin typeface="Aptos Display" panose="020B0004020202020204" pitchFamily="34" charset="0"/>
              </a:rPr>
              <a:t>STEP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74920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 Display" panose="020B0004020202020204" pitchFamily="34" charset="0"/>
              </a:rPr>
              <a:t>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296539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94A3B8"/>
                </a:solidFill>
                <a:latin typeface="Aptos Display" panose="020B0004020202020204" pitchFamily="34" charset="0"/>
              </a:rPr>
              <a:t>Evaluate trained model on
unseen test samples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212080" y="5321808"/>
            <a:ext cx="457200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00800" y="5166360"/>
            <a:ext cx="868680" cy="411480"/>
          </a:xfrm>
          <a:prstGeom prst="roundRect">
            <a:avLst/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C101A"/>
                </a:solidFill>
                <a:latin typeface="Aptos Display" panose="020B0004020202020204" pitchFamily="34" charset="0"/>
              </a:rPr>
              <a:t>STEP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5074920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 Display" panose="020B0004020202020204" pitchFamily="34" charset="0"/>
              </a:rPr>
              <a:t>Classification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326487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 Display" panose="020B0004020202020204" pitchFamily="34" charset="0"/>
              </a:rPr>
              <a:t>Output:
Genuine / Deepfake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Intended Dataset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64008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94A3B8"/>
                </a:solidFill>
                <a:latin typeface="Aptos Display" panose="020B0004020202020204" pitchFamily="34" charset="0"/>
              </a:rPr>
              <a:t>ASVspoof</a:t>
            </a:r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 benchmark datasets are widely used for evaluating spoofing and deepfake detection systems. They contain multiple spoofing conditions including TTS and VC attacks, providing a standardized evaluation framework.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4206240" cy="1645920"/>
          </a:xfrm>
          <a:prstGeom prst="roundRect">
            <a:avLst/>
          </a:prstGeom>
          <a:solidFill>
            <a:srgbClr val="151E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>
              <a:latin typeface="Aptos Display" panose="020B00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 Display" panose="020B0004020202020204" pitchFamily="34" charset="0"/>
              </a:rPr>
              <a:t>ASVspoof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38404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 Display" panose="020B0004020202020204" pitchFamily="34" charset="0"/>
              </a:rPr>
              <a:t>Logical Access (LA): TTS &amp; VC attacks
Physical Access (PA): Replay attacks
Widely cited benchmark for anti-spoofing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651760"/>
            <a:ext cx="4206240" cy="1645920"/>
          </a:xfrm>
          <a:prstGeom prst="roundRect">
            <a:avLst/>
          </a:prstGeom>
          <a:solidFill>
            <a:srgbClr val="151E3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>
              <a:latin typeface="Aptos Display" panose="020B00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2743200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 Display" panose="020B0004020202020204" pitchFamily="34" charset="0"/>
              </a:rPr>
              <a:t>ASVspoof 2021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108960"/>
            <a:ext cx="38404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 Display" panose="020B0004020202020204" pitchFamily="34" charset="0"/>
              </a:rPr>
              <a:t>Extended evaluation conditions
More diverse attack scenarios
Telephony and compression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Aptos Display" panose="020B0004020202020204" pitchFamily="34" charset="0"/>
              </a:rPr>
              <a:t>Data Split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1828800" cy="457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1F5F9"/>
                </a:solidFill>
                <a:latin typeface="Aptos Display" panose="020B0004020202020204" pitchFamily="34" charset="0"/>
              </a:rPr>
              <a:t>Full Dataset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651760" y="5276088"/>
            <a:ext cx="365760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>
              <a:latin typeface="Aptos Display" panose="020B000402020202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108960" y="5029200"/>
            <a:ext cx="2560320" cy="6858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10B981"/>
                </a:solidFill>
                <a:latin typeface="Aptos Display" panose="020B0004020202020204" pitchFamily="34" charset="0"/>
              </a:rPr>
              <a:t>Training Set</a:t>
            </a:r>
          </a:p>
          <a:p>
            <a:pPr algn="ctr"/>
            <a:r>
              <a:rPr sz="1300" b="0">
                <a:solidFill>
                  <a:srgbClr val="10B981"/>
                </a:solidFill>
                <a:latin typeface="Aptos Display" panose="020B0004020202020204" pitchFamily="34" charset="0"/>
              </a:rPr>
              <a:t>Model learning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029200"/>
            <a:ext cx="2430924" cy="6858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F59E0B"/>
                </a:solidFill>
                <a:latin typeface="Aptos Display" panose="020B0004020202020204" pitchFamily="34" charset="0"/>
              </a:rPr>
              <a:t>Validation Set</a:t>
            </a:r>
          </a:p>
          <a:p>
            <a:pPr algn="ctr"/>
            <a:r>
              <a:rPr sz="1300" b="0">
                <a:solidFill>
                  <a:srgbClr val="F59E0B"/>
                </a:solidFill>
                <a:latin typeface="Aptos Display" panose="020B0004020202020204" pitchFamily="34" charset="0"/>
              </a:rPr>
              <a:t>Hyperparameter tuning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5029200"/>
            <a:ext cx="2560320" cy="6858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06B6D4"/>
                </a:solidFill>
                <a:latin typeface="Aptos Display" panose="020B0004020202020204" pitchFamily="34" charset="0"/>
              </a:rPr>
              <a:t>Testing Set</a:t>
            </a:r>
          </a:p>
          <a:p>
            <a:pPr algn="ctr"/>
            <a:r>
              <a:rPr sz="1300" b="0">
                <a:solidFill>
                  <a:srgbClr val="06B6D4"/>
                </a:solidFill>
                <a:latin typeface="Aptos Display" panose="020B0004020202020204" pitchFamily="34" charset="0"/>
              </a:rPr>
              <a:t>Final evaluation</a:t>
            </a:r>
          </a:p>
        </p:txBody>
      </p:sp>
      <p:sp>
        <p:nvSpPr>
          <p:cNvPr id="22" name="Right Arrow 16">
            <a:extLst>
              <a:ext uri="{FF2B5EF4-FFF2-40B4-BE49-F238E27FC236}">
                <a16:creationId xmlns:a16="http://schemas.microsoft.com/office/drawing/2014/main" id="{CBBFCC51-A436-21F9-D569-A9C894060F29}"/>
              </a:ext>
            </a:extLst>
          </p:cNvPr>
          <p:cNvSpPr/>
          <p:nvPr/>
        </p:nvSpPr>
        <p:spPr>
          <a:xfrm>
            <a:off x="5715000" y="5276088"/>
            <a:ext cx="365760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>
              <a:latin typeface="Aptos Display" panose="020B0004020202020204" pitchFamily="34" charset="0"/>
            </a:endParaRPr>
          </a:p>
        </p:txBody>
      </p:sp>
      <p:sp>
        <p:nvSpPr>
          <p:cNvPr id="24" name="Right Arrow 16">
            <a:extLst>
              <a:ext uri="{FF2B5EF4-FFF2-40B4-BE49-F238E27FC236}">
                <a16:creationId xmlns:a16="http://schemas.microsoft.com/office/drawing/2014/main" id="{2D36B2E4-287E-9C2E-1002-468742C3051A}"/>
              </a:ext>
            </a:extLst>
          </p:cNvPr>
          <p:cNvSpPr/>
          <p:nvPr/>
        </p:nvSpPr>
        <p:spPr>
          <a:xfrm>
            <a:off x="8622102" y="5276088"/>
            <a:ext cx="365760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18940" y="6446520"/>
            <a:ext cx="65114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4748B"/>
                </a:solidFill>
                <a:latin typeface="Aptos Display" panose="020B0004020202020204" pitchFamily="34" charset="0"/>
              </a:rPr>
              <a:t>17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Performance Evaluation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86400" cy="13716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>
              <a:latin typeface="Aptos Display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6B6D4"/>
                </a:solidFill>
                <a:latin typeface="Aptos Display" panose="020B0004020202020204" pitchFamily="34" charset="0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24393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Overall percentage of correct classifications
(genuine correctly identified + deepfakes correctly caught)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486400" cy="13716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>
              <a:latin typeface="Aptos Display" panose="020B00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0B981"/>
                </a:solidFill>
                <a:latin typeface="Aptos Display" panose="020B0004020202020204" pitchFamily="34" charset="0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Of all clips flagged as deepfake,
what fraction are actually deepfakes?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5486400" cy="13716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>
              <a:latin typeface="Aptos Display" panose="020B00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59E0B"/>
                </a:solidFill>
                <a:latin typeface="Aptos Display" panose="020B0004020202020204" pitchFamily="34" charset="0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 Display" panose="020B0004020202020204" pitchFamily="34" charset="0"/>
              </a:rPr>
              <a:t>Of all actual deepfakes in the dataset,
what fraction did the system detect?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880360"/>
            <a:ext cx="5486400" cy="13716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>
              <a:latin typeface="Aptos Display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301752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A78BFA"/>
                </a:solidFill>
                <a:latin typeface="Aptos Display" panose="020B0004020202020204" pitchFamily="34" charset="0"/>
              </a:rPr>
              <a:t>F1-Score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 Display" panose="020B0004020202020204" pitchFamily="34" charset="0"/>
              </a:rPr>
              <a:t>Harmonic mean of Precision and Recall —
balances false alarms vs. missed detections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72000"/>
            <a:ext cx="5486400" cy="13716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>
              <a:latin typeface="Aptos Display" panose="020B00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2D3EE"/>
                </a:solidFill>
                <a:latin typeface="Aptos Display" panose="020B0004020202020204" pitchFamily="34" charset="0"/>
              </a:rPr>
              <a:t>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 Display" panose="020B0004020202020204" pitchFamily="34" charset="0"/>
              </a:rPr>
              <a:t>Equal Error Rate — point where false acceptance
rate equals false rejection rate (lower = better)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572000"/>
            <a:ext cx="5486400" cy="137160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>
              <a:latin typeface="Aptos Display" panose="020B00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47091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472B6"/>
                </a:solidFill>
                <a:latin typeface="Aptos Display" panose="020B0004020202020204" pitchFamily="34" charset="0"/>
              </a:rPr>
              <a:t>min-</a:t>
            </a:r>
            <a:r>
              <a:rPr sz="1600" b="1" dirty="0" err="1">
                <a:solidFill>
                  <a:srgbClr val="F472B6"/>
                </a:solidFill>
                <a:latin typeface="Aptos Display" panose="020B0004020202020204" pitchFamily="34" charset="0"/>
              </a:rPr>
              <a:t>tDCF</a:t>
            </a:r>
            <a:endParaRPr sz="1600" b="1" dirty="0">
              <a:solidFill>
                <a:srgbClr val="F472B6"/>
              </a:solidFill>
              <a:latin typeface="Aptos Display" panose="020B00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5074920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 Display" panose="020B0004020202020204" pitchFamily="34" charset="0"/>
              </a:rPr>
              <a:t>Minimum tandem detection cost function —
cost-based metric used in ASVspoof evaluation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6217920"/>
            <a:ext cx="9418320" cy="36576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64748B"/>
                </a:solidFill>
                <a:latin typeface="Aptos Display" panose="020B0004020202020204" pitchFamily="34" charset="0"/>
              </a:rPr>
              <a:t>Note: Project results will be reported after complete experimental evaluation.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Expected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2286000" cy="7315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Audio File</a:t>
            </a:r>
          </a:p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(Input)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40" y="1664208"/>
            <a:ext cx="548640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023360" y="1371600"/>
            <a:ext cx="3200400" cy="73152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ResNeXt-Based</a:t>
            </a:r>
          </a:p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Detector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315200" y="1664208"/>
            <a:ext cx="548640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1828800" cy="50292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✓ GENUINE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1828800" cy="50292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✗ DEEPFAKE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Aptos Display" panose="020B0004020202020204" pitchFamily="34" charset="0"/>
              </a:rPr>
              <a:t>Expected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365760" cy="36576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C101A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18688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ptos Display" panose="020B0004020202020204" pitchFamily="34" charset="0"/>
              </a:rPr>
              <a:t>Functional audio deepfake detection prototype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365760" cy="36576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C101A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21608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ptos Display" panose="020B0004020202020204" pitchFamily="34" charset="0"/>
              </a:rPr>
              <a:t>Automated classification of audio as genuine or deepfake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365760" cy="36576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C101A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24528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ptos Display" panose="020B0004020202020204" pitchFamily="34" charset="0"/>
              </a:rPr>
              <a:t>Spectral-feature-based analysis pipeline (MFCC + LFCC + CQCC)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09160"/>
            <a:ext cx="365760" cy="36576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C101A"/>
                </a:solidFill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727448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ptos Display" panose="020B0004020202020204" pitchFamily="34" charset="0"/>
              </a:rPr>
              <a:t>ResNeXt-based deep learning classification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12080"/>
            <a:ext cx="365760" cy="36576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C101A"/>
                </a:solidFill>
                <a:latin typeface="Aptos Display" panose="020B0004020202020204" pitchFamily="34" charset="0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230368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ptos Display" panose="020B0004020202020204" pitchFamily="34" charset="0"/>
              </a:rPr>
              <a:t>Quantitative performance evaluation using standard 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715000"/>
            <a:ext cx="365760" cy="36576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C101A"/>
                </a:solidFill>
                <a:latin typeface="Aptos Display" panose="020B0004020202020204" pitchFamily="34" charset="0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733288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ptos Display" panose="020B0004020202020204" pitchFamily="34" charset="0"/>
              </a:rPr>
              <a:t>Identification of system limitations and failure conditions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 Display" panose="020B0004020202020204" pitchFamily="34" charset="0"/>
              </a:rPr>
              <a:t>Potential future extensions and research directions: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86400" cy="96012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Aptos Display" panose="020B0004020202020204" pitchFamily="34" charset="0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2D3EE"/>
                </a:solidFill>
                <a:latin typeface="Aptos Display" panose="020B0004020202020204" pitchFamily="34" charset="0"/>
              </a:rPr>
              <a:t>Real-Time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96596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Process streaming audio for live deepfake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5486400" cy="96012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Aptos Display" panose="020B0004020202020204" pitchFamily="34" charset="0"/>
              </a:rPr>
              <a:t>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64592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2D3EE"/>
                </a:solidFill>
                <a:latin typeface="Aptos Display" panose="020B0004020202020204" pitchFamily="34" charset="0"/>
              </a:rPr>
              <a:t>Multilingual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96596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Extend detection across multiple languages and accents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43200"/>
            <a:ext cx="5486400" cy="96012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283464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Aptos Display" panose="020B0004020202020204" pitchFamily="34" charset="0"/>
              </a:rPr>
              <a:t>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83464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2D3EE"/>
                </a:solidFill>
                <a:latin typeface="Aptos Display" panose="020B0004020202020204" pitchFamily="34" charset="0"/>
              </a:rPr>
              <a:t>Unseen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15468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Generalize to novel, previously unseen generation methods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743200"/>
            <a:ext cx="5486400" cy="96012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4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Aptos Display" panose="020B0004020202020204" pitchFamily="34" charset="0"/>
              </a:rP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83464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2D3EE"/>
                </a:solidFill>
                <a:latin typeface="Aptos Display" panose="020B0004020202020204" pitchFamily="34" charset="0"/>
              </a:rPr>
              <a:t>Adversarial Robustness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15468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Defend against deliberate adversarial attacks on the detector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31920"/>
            <a:ext cx="5486400" cy="96012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" y="402336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Aptos Display" panose="020B0004020202020204" pitchFamily="34" charset="0"/>
              </a:rP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0233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2D3EE"/>
                </a:solidFill>
                <a:latin typeface="Aptos Display" panose="020B0004020202020204" pitchFamily="34" charset="0"/>
              </a:rPr>
              <a:t>Explainable AI (XAI)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34340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Provide interpretable evidence for detection decisions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931920"/>
            <a:ext cx="5486400" cy="96012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0" y="402336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Aptos Display" panose="020B0004020202020204" pitchFamily="34" charset="0"/>
              </a:rPr>
              <a:t>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0233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2D3EE"/>
                </a:solidFill>
                <a:latin typeface="Aptos Display" panose="020B0004020202020204" pitchFamily="34" charset="0"/>
              </a:rPr>
              <a:t>Edge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34340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Optimize model for mobile and embedded devices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120640"/>
            <a:ext cx="5486400" cy="96012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" y="521208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Aptos Display" panose="020B0004020202020204" pitchFamily="34" charset="0"/>
              </a:rPr>
              <a:t>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21208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2D3EE"/>
                </a:solidFill>
                <a:latin typeface="Aptos Display" panose="020B0004020202020204" pitchFamily="34" charset="0"/>
              </a:rPr>
              <a:t>Forensic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53212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Integrate with digital forensic investigation workflows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5120640"/>
            <a:ext cx="5486400" cy="960120"/>
          </a:xfrm>
          <a:prstGeom prst="roundRect">
            <a:avLst/>
          </a:prstGeom>
          <a:solidFill>
            <a:srgbClr val="151E30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ptos Display" panose="020B00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00800" y="521208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Aptos Display" panose="020B0004020202020204" pitchFamily="34" charset="0"/>
              </a:rPr>
              <a:t>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21208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2D3EE"/>
                </a:solidFill>
                <a:latin typeface="Aptos Display" panose="020B0004020202020204" pitchFamily="34" charset="0"/>
              </a:rPr>
              <a:t>Continuous Adaptation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53212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94A3B8"/>
                </a:solidFill>
                <a:latin typeface="Aptos Display" panose="020B0004020202020204" pitchFamily="34" charset="0"/>
              </a:rPr>
              <a:t>Online learning to adapt to evolving deepfake techniques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71600" y="6217920"/>
            <a:ext cx="9418320" cy="365760"/>
          </a:xfrm>
          <a:prstGeom prst="roundRect">
            <a:avLst/>
          </a:prstGeom>
          <a:solidFill>
            <a:srgbClr val="151E30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64748B"/>
                </a:solidFill>
                <a:latin typeface="Aptos Display" panose="020B0004020202020204" pitchFamily="34" charset="0"/>
              </a:rPr>
              <a:t>Note: These represent future research directions — not current project features.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Primary Research Papers (IEEE Format):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02920" cy="50292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C101A"/>
                </a:solidFill>
                <a:latin typeface="Calibri"/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830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F1F5F9"/>
                </a:solidFill>
                <a:latin typeface="Calibri"/>
              </a:rPr>
              <a:t>M. Rabhi, S. </a:t>
            </a:r>
            <a:r>
              <a:rPr sz="1300" b="0" dirty="0" err="1">
                <a:solidFill>
                  <a:srgbClr val="F1F5F9"/>
                </a:solidFill>
                <a:latin typeface="Calibri"/>
              </a:rPr>
              <a:t>Bakiras</a:t>
            </a:r>
            <a:r>
              <a:rPr sz="1300" b="0" dirty="0">
                <a:solidFill>
                  <a:srgbClr val="F1F5F9"/>
                </a:solidFill>
                <a:latin typeface="Calibri"/>
              </a:rPr>
              <a:t>, and R. Di Pietro, "Audio-deepfake detection: Adversarial attacks and countermeasures," Expert Systems with Applications, vol. 250, 2024.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23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06B6D4"/>
                </a:solidFill>
                <a:latin typeface="Calibri"/>
              </a:rPr>
              <a:t>https://www.sciencedirect.com/science/article/pii/S0957417424008078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502920" cy="50292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C101A"/>
                </a:solidFill>
                <a:latin typeface="Calibri"/>
              </a:rPr>
              <a:t>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175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F1F5F9"/>
                </a:solidFill>
                <a:latin typeface="Calibri"/>
              </a:rPr>
              <a:t>"Deepfake audio detection with spectral features and </a:t>
            </a:r>
            <a:r>
              <a:rPr sz="1300" b="0" dirty="0" err="1">
                <a:solidFill>
                  <a:srgbClr val="F1F5F9"/>
                </a:solidFill>
                <a:latin typeface="Calibri"/>
              </a:rPr>
              <a:t>ResNeXt</a:t>
            </a:r>
            <a:r>
              <a:rPr sz="1300" b="0" dirty="0">
                <a:solidFill>
                  <a:srgbClr val="F1F5F9"/>
                </a:solidFill>
                <a:latin typeface="Calibri"/>
              </a:rPr>
              <a:t>-based architecture," Knowledge-Based Systems, 2025.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576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  <a:latin typeface="Calibri"/>
              </a:rPr>
              <a:t>https://www.sciencedirect.com/science/article/pii/S0950705125007725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1F5F9"/>
                </a:solidFill>
                <a:latin typeface="Calibri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D3EE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A15C3-A919-0F84-0B37-ECF107A8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71BCC4-177F-1BB6-B5FB-6014070EE100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15839E-7DD4-AD20-E420-F183C740AF76}"/>
              </a:ext>
            </a:extLst>
          </p:cNvPr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5C17E-0B27-E5EA-A004-D832F66676E3}"/>
              </a:ext>
            </a:extLst>
          </p:cNvPr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20 / 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4F236-C55C-B5E2-FEF9-F1D6049EC6DD}"/>
              </a:ext>
            </a:extLst>
          </p:cNvPr>
          <p:cNvSpPr txBox="1"/>
          <p:nvPr/>
        </p:nvSpPr>
        <p:spPr>
          <a:xfrm>
            <a:off x="731520" y="2286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Calibri"/>
              </a:rPr>
              <a:t>References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695984-9F85-92B4-0A24-A2D6E619C5C6}"/>
              </a:ext>
            </a:extLst>
          </p:cNvPr>
          <p:cNvSpPr/>
          <p:nvPr/>
        </p:nvSpPr>
        <p:spPr>
          <a:xfrm>
            <a:off x="731520" y="822960"/>
            <a:ext cx="2011680" cy="320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888754-7F1B-8343-542B-CAC246D79A69}"/>
              </a:ext>
            </a:extLst>
          </p:cNvPr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Primary Research Papers (IEEE Format):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40C187E-AB20-64A2-1277-13524073B513}"/>
              </a:ext>
            </a:extLst>
          </p:cNvPr>
          <p:cNvSpPr/>
          <p:nvPr/>
        </p:nvSpPr>
        <p:spPr>
          <a:xfrm>
            <a:off x="731520" y="1783080"/>
            <a:ext cx="502920" cy="50292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C101A"/>
                </a:solidFill>
                <a:latin typeface="Calibri"/>
              </a:rPr>
              <a:t>[1]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C28F99D-387C-1423-9217-B7E682B80197}"/>
              </a:ext>
            </a:extLst>
          </p:cNvPr>
          <p:cNvSpPr/>
          <p:nvPr/>
        </p:nvSpPr>
        <p:spPr>
          <a:xfrm>
            <a:off x="731520" y="3017520"/>
            <a:ext cx="502920" cy="502920"/>
          </a:xfrm>
          <a:prstGeom prst="roundRect">
            <a:avLst/>
          </a:prstGeom>
          <a:solidFill>
            <a:srgbClr val="06B6D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C101A"/>
                </a:solidFill>
                <a:latin typeface="Calibri"/>
              </a:rPr>
              <a:t>[2]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01F8BA-2099-0D4C-92CE-A2443BC3E37A}"/>
              </a:ext>
            </a:extLst>
          </p:cNvPr>
          <p:cNvSpPr txBox="1"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1F5F9"/>
                </a:solidFill>
                <a:latin typeface="Calibri"/>
              </a:rPr>
              <a:t>Thank You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DF8074-C5C2-F3FB-1169-B20EF1FB1470}"/>
              </a:ext>
            </a:extLst>
          </p:cNvPr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D3E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E83B89-89E0-C7D5-DABC-4D38705D5C84}"/>
              </a:ext>
            </a:extLst>
          </p:cNvPr>
          <p:cNvSpPr txBox="1"/>
          <p:nvPr/>
        </p:nvSpPr>
        <p:spPr>
          <a:xfrm>
            <a:off x="1371600" y="1783080"/>
            <a:ext cx="9875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1F5F9"/>
                </a:solidFill>
                <a:latin typeface="Aptos Display" panose="020B0004020202020204" pitchFamily="34" charset="0"/>
              </a:rPr>
              <a:t>"Deepfake audio detection with spectral features and </a:t>
            </a:r>
            <a:r>
              <a:rPr sz="1400" b="0" dirty="0" err="1">
                <a:solidFill>
                  <a:srgbClr val="F1F5F9"/>
                </a:solidFill>
                <a:latin typeface="Aptos Display" panose="020B0004020202020204" pitchFamily="34" charset="0"/>
              </a:rPr>
              <a:t>ResNeXt</a:t>
            </a:r>
            <a:r>
              <a:rPr sz="1400" b="0" dirty="0">
                <a:solidFill>
                  <a:srgbClr val="F1F5F9"/>
                </a:solidFill>
                <a:latin typeface="Aptos Display" panose="020B0004020202020204" pitchFamily="34" charset="0"/>
              </a:rPr>
              <a:t>-based architecture," Knowledge-Based Systems, 2025.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EB2B8-B705-0469-6E13-D4B7E2330559}"/>
              </a:ext>
            </a:extLst>
          </p:cNvPr>
          <p:cNvSpPr txBox="1"/>
          <p:nvPr/>
        </p:nvSpPr>
        <p:spPr>
          <a:xfrm>
            <a:off x="1371600" y="2082129"/>
            <a:ext cx="9875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06B6D4"/>
                </a:solidFill>
                <a:latin typeface="Calibri"/>
              </a:rPr>
              <a:t>https://www.sciencedirect.com/science/article/pii/S0950705125007725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D1AB33-20AF-130B-70CF-907AB009C739}"/>
              </a:ext>
            </a:extLst>
          </p:cNvPr>
          <p:cNvSpPr txBox="1"/>
          <p:nvPr/>
        </p:nvSpPr>
        <p:spPr>
          <a:xfrm>
            <a:off x="1371600" y="2944368"/>
            <a:ext cx="987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1F5F9"/>
                </a:solidFill>
                <a:latin typeface="Calibri"/>
              </a:rPr>
              <a:t>M. Rabhi, S. </a:t>
            </a:r>
            <a:r>
              <a:rPr sz="1400" b="0" dirty="0" err="1">
                <a:solidFill>
                  <a:srgbClr val="F1F5F9"/>
                </a:solidFill>
                <a:latin typeface="Calibri"/>
              </a:rPr>
              <a:t>Bakiras</a:t>
            </a:r>
            <a:r>
              <a:rPr sz="1400" b="0" dirty="0">
                <a:solidFill>
                  <a:srgbClr val="F1F5F9"/>
                </a:solidFill>
                <a:latin typeface="Calibri"/>
              </a:rPr>
              <a:t>, and R. Di Pietro, "Audio-deepfake detection: Adversarial attacks and countermeasures," Expert Systems with Applications, vol. 250, 2024.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5A6485-BB5A-1FEF-784D-AA213055D22B}"/>
              </a:ext>
            </a:extLst>
          </p:cNvPr>
          <p:cNvSpPr txBox="1"/>
          <p:nvPr/>
        </p:nvSpPr>
        <p:spPr>
          <a:xfrm>
            <a:off x="1371600" y="3423398"/>
            <a:ext cx="9875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06B6D4"/>
                </a:solidFill>
                <a:latin typeface="Calibri"/>
              </a:rPr>
              <a:t>https://www.sciencedirect.com/science/article/pii/S0957417424008078</a:t>
            </a:r>
          </a:p>
        </p:txBody>
      </p:sp>
    </p:spTree>
    <p:extLst>
      <p:ext uri="{BB962C8B-B14F-4D97-AF65-F5344CB8AC3E}">
        <p14:creationId xmlns:p14="http://schemas.microsoft.com/office/powerpoint/2010/main" val="1589845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2138</Words>
  <Application>Microsoft Office PowerPoint</Application>
  <PresentationFormat>Widescreen</PresentationFormat>
  <Paragraphs>398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Tharun Gowda</cp:lastModifiedBy>
  <cp:revision>2</cp:revision>
  <dcterms:created xsi:type="dcterms:W3CDTF">2013-01-27T09:14:16Z</dcterms:created>
  <dcterms:modified xsi:type="dcterms:W3CDTF">2026-09-16T17:13:02Z</dcterms:modified>
  <cp:category/>
</cp:coreProperties>
</file>